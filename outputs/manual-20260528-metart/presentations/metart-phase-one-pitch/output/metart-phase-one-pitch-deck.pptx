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1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slide: frame creator pain around piracy, large marketplace cuts, no accessible auction lane, and loss of direct buyer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Solution slide: explain MetArt as a protected product journey. The central diagram is the required user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 slide: present architecture as a product system, not a generic tech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ICP slide: identify creators as primary users and collectors as secondary users; close with the Phase 1 pitch-ready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B26CCAB-BA7E-4B7D-9DE1-5BEF43AA5F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18"/>
              </a:gs>
              <a:gs pos="62000">
                <a:srgbClr val="171225"/>
              </a:gs>
              <a:gs pos="100000">
                <a:srgbClr val="21152C"/>
              </a:gs>
            </a:gsLst>
            <a:lin ang="108000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2D3031A7-3A0C-4F8C-AD94-F9F55D0974C9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33350" cy="1333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82E60DEF-79AE-4358-99C9-C0B4A4CC1906}"/>
              </a:ext>
            </a:extLst>
          </p:cNvPr>
          <p:cNvSpPr>
            <a:spLocks noGrp="1"/>
          </p:cNvSpPr>
          <p:nvPr/>
        </p:nvSpPr>
        <p:spPr>
          <a:xfrm>
            <a:off x="762000" y="3143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C350E8-D756-45C0-829E-6EF1DB0A42A5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6477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37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Digital artists lose control before they earn revenue.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CA761-74E6-4780-ABA2-03BFB485ECFE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5953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Independent creators can publish beautiful work, but the current internet sales path exposes them to theft, high platform cuts, weak auction access, and blocked buyer relationships.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046CF6-66F9-4ABD-A2A5-55633330DF57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1619250" cy="304800"/>
          </a:xfrm>
          <a:prstGeom prst="roundRect">
            <a:avLst>
              <a:gd name="adj" fmla="val 25000"/>
            </a:avLst>
          </a:prstGeom>
          <a:solidFill>
            <a:srgbClr val="2B223E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FB963-4880-4ED5-9FA3-A627F0750703}"/>
              </a:ext>
            </a:extLst>
          </p:cNvPr>
          <p:cNvSpPr>
            <a:spLocks noGrp="1"/>
          </p:cNvSpPr>
          <p:nvPr/>
        </p:nvSpPr>
        <p:spPr>
          <a:xfrm>
            <a:off x="666750" y="3076575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Pain point summary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DA1770-D83D-4AD5-A8EE-CEDFF4E43988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76200" cy="76200"/>
          </a:xfrm>
          <a:prstGeom prst="ellipse">
            <a:avLst/>
          </a:prstGeom>
          <a:solidFill>
            <a:srgbClr val="FF6B7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CDF317-DEF2-4E22-A549-0300A704A2A0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Artists upload. The internet can copy, reuse, and redistribute previews without permission.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128AC2-98C3-41EC-AB95-6907CAFF386F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76200" cy="7620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9ACF9E-8F7F-4E78-A8EA-1588119DB3DB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Traditional marketplaces can take 30-50% cuts, leaving creators with reduced earnings.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A45522-1E0E-40E3-92E8-6CD23685F622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76200" cy="7620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EE08AB-F50E-4908-84A2-F6D4A249FC28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Live auctions are rarely accessible to indie artists without heavy platform support.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24BD50E-8857-4F52-A012-C36308948BA5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76200" cy="76200"/>
          </a:xfrm>
          <a:prstGeom prst="ellipse">
            <a:avLst/>
          </a:prstGeom>
          <a:solidFill>
            <a:srgbClr val="C4A7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C20B1-7650-4135-BB34-FE308BC2BD30}"/>
              </a:ext>
            </a:extLst>
          </p:cNvPr>
          <p:cNvSpPr>
            <a:spLocks noGrp="1"/>
          </p:cNvSpPr>
          <p:nvPr/>
        </p:nvSpPr>
        <p:spPr>
          <a:xfrm>
            <a:off x="800100" y="51244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Creator-to-collector trust is weakened when every conversation goes through a middleman.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61DA0C-CCC2-4C24-A27B-D20B78069C75}"/>
              </a:ext>
            </a:extLst>
          </p:cNvPr>
          <p:cNvSpPr>
            <a:spLocks noGrp="1"/>
          </p:cNvSpPr>
          <p:nvPr/>
        </p:nvSpPr>
        <p:spPr>
          <a:xfrm>
            <a:off x="7029450" y="666750"/>
            <a:ext cx="4381500" cy="5715000"/>
          </a:xfrm>
          <a:prstGeom prst="roundRect">
            <a:avLst>
              <a:gd name="adj" fmla="val 1739"/>
            </a:avLst>
          </a:prstGeom>
          <a:solidFill>
            <a:srgbClr val="1B1527"/>
          </a:solidFill>
          <a:ln w="11430">
            <a:solidFill>
              <a:srgbClr val="4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54" r="54"/>
          <a:stretch>
            <a:fillRect/>
          </a:stretch>
        </p:blipFill>
        <p:spPr>
          <a:xfrm>
            <a:off x="7258050" y="895350"/>
            <a:ext cx="3924300" cy="220980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496642-FAB1-48CE-AFE3-8B50894ABBAB}"/>
              </a:ext>
            </a:extLst>
          </p:cNvPr>
          <p:cNvSpPr>
            <a:spLocks noGrp="1"/>
          </p:cNvSpPr>
          <p:nvPr/>
        </p:nvSpPr>
        <p:spPr>
          <a:xfrm>
            <a:off x="8058150" y="3143250"/>
            <a:ext cx="3009900" cy="285750"/>
          </a:xfrm>
          <a:prstGeom prst="roundRect">
            <a:avLst>
              <a:gd name="adj" fmla="val 26667"/>
            </a:avLst>
          </a:prstGeom>
          <a:solidFill>
            <a:srgbClr val="100C18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6678A4-C000-4B9E-8FFF-77DDC3BB066E}"/>
              </a:ext>
            </a:extLst>
          </p:cNvPr>
          <p:cNvSpPr>
            <a:spLocks noGrp="1"/>
          </p:cNvSpPr>
          <p:nvPr/>
        </p:nvSpPr>
        <p:spPr>
          <a:xfrm>
            <a:off x="8210550" y="3171825"/>
            <a:ext cx="2705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@MetArt protected preview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DC8BC9-6382-469A-9561-256DD7C1D9F2}"/>
              </a:ext>
            </a:extLst>
          </p:cNvPr>
          <p:cNvSpPr>
            <a:spLocks noGrp="1"/>
          </p:cNvSpPr>
          <p:nvPr/>
        </p:nvSpPr>
        <p:spPr>
          <a:xfrm>
            <a:off x="7391400" y="3543300"/>
            <a:ext cx="361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Current path leakage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2845AE-A601-41A6-9A5B-E7BE778F74C4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61950" cy="361950"/>
          </a:xfrm>
          <a:prstGeom prst="ellipse">
            <a:avLst/>
          </a:prstGeom>
          <a:solidFill>
            <a:srgbClr val="8B5CF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850915-365F-4147-A02C-4C99DFAD3811}"/>
              </a:ext>
            </a:extLst>
          </p:cNvPr>
          <p:cNvSpPr>
            <a:spLocks noGrp="1"/>
          </p:cNvSpPr>
          <p:nvPr/>
        </p:nvSpPr>
        <p:spPr>
          <a:xfrm>
            <a:off x="7429500" y="39052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37BD4E-FB74-448D-8049-3B877E840CAC}"/>
              </a:ext>
            </a:extLst>
          </p:cNvPr>
          <p:cNvSpPr>
            <a:spLocks noGrp="1"/>
          </p:cNvSpPr>
          <p:nvPr/>
        </p:nvSpPr>
        <p:spPr>
          <a:xfrm>
            <a:off x="7953375" y="38290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Upload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1C26D0-7884-4182-84CA-B320AC1B03C8}"/>
              </a:ext>
            </a:extLst>
          </p:cNvPr>
          <p:cNvSpPr>
            <a:spLocks noGrp="1"/>
          </p:cNvSpPr>
          <p:nvPr/>
        </p:nvSpPr>
        <p:spPr>
          <a:xfrm>
            <a:off x="7953375" y="4076700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Artist publishes high-res preview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6AEF20-4758-464A-A3E0-999EFFB8EE52}"/>
              </a:ext>
            </a:extLst>
          </p:cNvPr>
          <p:cNvSpPr>
            <a:spLocks noGrp="1"/>
          </p:cNvSpPr>
          <p:nvPr/>
        </p:nvSpPr>
        <p:spPr>
          <a:xfrm>
            <a:off x="7429500" y="4324350"/>
            <a:ext cx="361950" cy="361950"/>
          </a:xfrm>
          <a:prstGeom prst="ellipse">
            <a:avLst/>
          </a:prstGeom>
          <a:solidFill>
            <a:srgbClr val="FF6B7A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5C854C-8C24-4DA1-9362-4A3E1F980EB6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9B8E7F-0DE2-45F4-808A-36860123D5C6}"/>
              </a:ext>
            </a:extLst>
          </p:cNvPr>
          <p:cNvSpPr>
            <a:spLocks noGrp="1"/>
          </p:cNvSpPr>
          <p:nvPr/>
        </p:nvSpPr>
        <p:spPr>
          <a:xfrm>
            <a:off x="7953375" y="43053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Copy risk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5DEDC8-E516-41AA-9941-10EA334020D9}"/>
              </a:ext>
            </a:extLst>
          </p:cNvPr>
          <p:cNvSpPr>
            <a:spLocks noGrp="1"/>
          </p:cNvSpPr>
          <p:nvPr/>
        </p:nvSpPr>
        <p:spPr>
          <a:xfrm>
            <a:off x="7953375" y="4552950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Preview can be copied before sale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7C16C9-F1B6-404D-B1B7-7FBCD457E4C5}"/>
              </a:ext>
            </a:extLst>
          </p:cNvPr>
          <p:cNvSpPr>
            <a:spLocks noGrp="1"/>
          </p:cNvSpPr>
          <p:nvPr/>
        </p:nvSpPr>
        <p:spPr>
          <a:xfrm>
            <a:off x="7429500" y="4800600"/>
            <a:ext cx="361950" cy="3619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56289B-21A5-4159-9B67-E5FD051B9DCA}"/>
              </a:ext>
            </a:extLst>
          </p:cNvPr>
          <p:cNvSpPr>
            <a:spLocks noGrp="1"/>
          </p:cNvSpPr>
          <p:nvPr/>
        </p:nvSpPr>
        <p:spPr>
          <a:xfrm>
            <a:off x="7429500" y="4857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37C57D-2CC6-4ED9-945D-8EFDAC521475}"/>
              </a:ext>
            </a:extLst>
          </p:cNvPr>
          <p:cNvSpPr>
            <a:spLocks noGrp="1"/>
          </p:cNvSpPr>
          <p:nvPr/>
        </p:nvSpPr>
        <p:spPr>
          <a:xfrm>
            <a:off x="7953375" y="47815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Platform cut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10D4E47-76CD-4265-BC11-AB33A9BB9F6F}"/>
              </a:ext>
            </a:extLst>
          </p:cNvPr>
          <p:cNvSpPr>
            <a:spLocks noGrp="1"/>
          </p:cNvSpPr>
          <p:nvPr/>
        </p:nvSpPr>
        <p:spPr>
          <a:xfrm>
            <a:off x="7953375" y="5029200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30-50% commissions reduce income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50DA743-5CA3-4869-82D0-1727FA8DA7D0}"/>
              </a:ext>
            </a:extLst>
          </p:cNvPr>
          <p:cNvSpPr>
            <a:spLocks noGrp="1"/>
          </p:cNvSpPr>
          <p:nvPr/>
        </p:nvSpPr>
        <p:spPr>
          <a:xfrm>
            <a:off x="7429500" y="5276850"/>
            <a:ext cx="361950" cy="36195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5D78DF-7914-4FE9-B835-BF4B661C4959}"/>
              </a:ext>
            </a:extLst>
          </p:cNvPr>
          <p:cNvSpPr>
            <a:spLocks noGrp="1"/>
          </p:cNvSpPr>
          <p:nvPr/>
        </p:nvSpPr>
        <p:spPr>
          <a:xfrm>
            <a:off x="7429500" y="533400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1125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F5E8F8-F5D0-485F-9E41-0A67A08FB310}"/>
              </a:ext>
            </a:extLst>
          </p:cNvPr>
          <p:cNvSpPr>
            <a:spLocks noGrp="1"/>
          </p:cNvSpPr>
          <p:nvPr/>
        </p:nvSpPr>
        <p:spPr>
          <a:xfrm>
            <a:off x="7953375" y="52578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No direct trust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F73BFF-091D-46C6-99CE-BA0EA4905E21}"/>
              </a:ext>
            </a:extLst>
          </p:cNvPr>
          <p:cNvSpPr>
            <a:spLocks noGrp="1"/>
          </p:cNvSpPr>
          <p:nvPr/>
        </p:nvSpPr>
        <p:spPr>
          <a:xfrm>
            <a:off x="7953375" y="5505450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Middleman owns the buyer relationship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D565F4-0F56-428D-89FB-08A56ED3FC6E}"/>
              </a:ext>
            </a:extLst>
          </p:cNvPr>
          <p:cNvSpPr>
            <a:spLocks noGrp="1"/>
          </p:cNvSpPr>
          <p:nvPr/>
        </p:nvSpPr>
        <p:spPr>
          <a:xfrm>
            <a:off x="7448550" y="5791200"/>
            <a:ext cx="3714750" cy="14288"/>
          </a:xfrm>
          <a:prstGeom prst="rect">
            <a:avLst/>
          </a:prstGeom>
          <a:solidFill>
            <a:srgbClr val="4E405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51CC39-5177-4C9F-BB6E-3341E17FAA6E}"/>
              </a:ext>
            </a:extLst>
          </p:cNvPr>
          <p:cNvSpPr>
            <a:spLocks noGrp="1"/>
          </p:cNvSpPr>
          <p:nvPr/>
        </p:nvSpPr>
        <p:spPr>
          <a:xfrm>
            <a:off x="7448550" y="5905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MetArt starts by closing this gap: protection, selling, auctions, chat, and payment in one creator-owned journey.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B6FC3F-B09C-441E-A3A5-A9FBB48F88CB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MetArt Phase 1 Pitch Deck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452537-4263-4EB3-9444-B5B2CD55437A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6969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4ACB24E5-EDCA-435C-B8C9-DF40962E6A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18"/>
              </a:gs>
              <a:gs pos="62000">
                <a:srgbClr val="171225"/>
              </a:gs>
              <a:gs pos="100000">
                <a:srgbClr val="21152C"/>
              </a:gs>
            </a:gsLst>
            <a:lin ang="108000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5D477A3B-FE14-41E0-8F0B-005F0BDA49CA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33350" cy="1333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052844D0-7CB6-4D25-A6BF-105009C95F52}"/>
              </a:ext>
            </a:extLst>
          </p:cNvPr>
          <p:cNvSpPr>
            <a:spLocks noGrp="1"/>
          </p:cNvSpPr>
          <p:nvPr/>
        </p:nvSpPr>
        <p:spPr>
          <a:xfrm>
            <a:off x="762000" y="3143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SOLUTION + USER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7DA0B-4262-4CF8-87C4-79C8C3491C48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7239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22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MetArt turns upload into a protected selling journey.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E2355-DBA5-4FC4-9BB2-0F39CFC96D98}"/>
              </a:ext>
            </a:extLst>
          </p:cNvPr>
          <p:cNvSpPr>
            <a:spLocks noGrp="1"/>
          </p:cNvSpPr>
          <p:nvPr/>
        </p:nvSpPr>
        <p:spPr>
          <a:xfrm>
            <a:off x="552450" y="17716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The product combines AI-assisted listing, anti-piracy watermarking, realtime auctions, direct DMs, and payments so artists can move from creation to revenue without losing control.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AF9351-2470-4355-9BA3-7F1756EF4CC9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11125200" cy="2724150"/>
          </a:xfrm>
          <a:prstGeom prst="roundRect">
            <a:avLst>
              <a:gd name="adj" fmla="val 2797"/>
            </a:avLst>
          </a:prstGeom>
          <a:solidFill>
            <a:srgbClr val="171321"/>
          </a:solidFill>
          <a:ln w="11430">
            <a:solidFill>
              <a:srgbClr val="4A3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999DF5-7B01-4333-A7A4-B54DED5377AA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Creator lane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A970E-521E-4EAE-8E7B-0CAD7C469A4F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914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49D6C8"/>
                </a:solidFill>
                <a:latin typeface="Segoe UI"/>
                <a:ea typeface="Segoe UI"/>
                <a:cs typeface="Segoe UI"/>
              </a:defRPr>
            </a:pPr>
            <a:r>
              <a:t>Collector lane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D6E789-8437-43AC-A351-68990F276620}"/>
              </a:ext>
            </a:extLst>
          </p:cNvPr>
          <p:cNvSpPr>
            <a:spLocks noGrp="1"/>
          </p:cNvSpPr>
          <p:nvPr/>
        </p:nvSpPr>
        <p:spPr>
          <a:xfrm>
            <a:off x="1866900" y="3105150"/>
            <a:ext cx="1352550" cy="838200"/>
          </a:xfrm>
          <a:prstGeom prst="roundRect">
            <a:avLst>
              <a:gd name="adj" fmla="val 9091"/>
            </a:avLst>
          </a:prstGeom>
          <a:solidFill>
            <a:srgbClr val="241C35"/>
          </a:solidFill>
          <a:ln w="13335">
            <a:solidFill>
              <a:srgbClr val="C4A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93E221-ED71-4228-B434-ED7222C0C289}"/>
              </a:ext>
            </a:extLst>
          </p:cNvPr>
          <p:cNvSpPr>
            <a:spLocks noGrp="1"/>
          </p:cNvSpPr>
          <p:nvPr/>
        </p:nvSpPr>
        <p:spPr>
          <a:xfrm>
            <a:off x="2019300" y="32194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Upload artwork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BBB9E5-BFBE-4EAF-B660-907FF2332A7F}"/>
              </a:ext>
            </a:extLst>
          </p:cNvPr>
          <p:cNvSpPr>
            <a:spLocks noGrp="1"/>
          </p:cNvSpPr>
          <p:nvPr/>
        </p:nvSpPr>
        <p:spPr>
          <a:xfrm>
            <a:off x="2019300" y="34861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Creator selects image and listing intent.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0F138-2C2E-4804-8200-FE330849F9FA}"/>
              </a:ext>
            </a:extLst>
          </p:cNvPr>
          <p:cNvSpPr>
            <a:spLocks noGrp="1"/>
          </p:cNvSpPr>
          <p:nvPr/>
        </p:nvSpPr>
        <p:spPr>
          <a:xfrm>
            <a:off x="1981200" y="3867150"/>
            <a:ext cx="1123950" cy="28575"/>
          </a:xfrm>
          <a:prstGeom prst="rect">
            <a:avLst/>
          </a:prstGeom>
          <a:solidFill>
            <a:srgbClr val="C4A7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8769DE-072A-4F47-BA2D-01165456C56C}"/>
              </a:ext>
            </a:extLst>
          </p:cNvPr>
          <p:cNvSpPr>
            <a:spLocks noGrp="1"/>
          </p:cNvSpPr>
          <p:nvPr/>
        </p:nvSpPr>
        <p:spPr>
          <a:xfrm>
            <a:off x="3562350" y="3105150"/>
            <a:ext cx="1562100" cy="838200"/>
          </a:xfrm>
          <a:prstGeom prst="roundRect">
            <a:avLst>
              <a:gd name="adj" fmla="val 9091"/>
            </a:avLst>
          </a:prstGeom>
          <a:solidFill>
            <a:srgbClr val="241C35"/>
          </a:solidFill>
          <a:ln w="13335">
            <a:solidFill>
              <a:srgbClr val="F59B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C9FF2-2FFE-4FF5-9587-5353D321B089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AI Appraiser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838B26-1671-4265-A854-19FFBCBE5F47}"/>
              </a:ext>
            </a:extLst>
          </p:cNvPr>
          <p:cNvSpPr>
            <a:spLocks noGrp="1"/>
          </p:cNvSpPr>
          <p:nvPr/>
        </p:nvSpPr>
        <p:spPr>
          <a:xfrm>
            <a:off x="3714750" y="348615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Title, tags, bid and watermark position.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F5A729-FECF-4EA7-ABCC-A0BA584D2A9A}"/>
              </a:ext>
            </a:extLst>
          </p:cNvPr>
          <p:cNvSpPr>
            <a:spLocks noGrp="1"/>
          </p:cNvSpPr>
          <p:nvPr/>
        </p:nvSpPr>
        <p:spPr>
          <a:xfrm>
            <a:off x="3676650" y="3867150"/>
            <a:ext cx="1333500" cy="28575"/>
          </a:xfrm>
          <a:prstGeom prst="rect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CFBD16-DD58-4F8B-A165-03CD618D3AAF}"/>
              </a:ext>
            </a:extLst>
          </p:cNvPr>
          <p:cNvSpPr>
            <a:spLocks noGrp="1"/>
          </p:cNvSpPr>
          <p:nvPr/>
        </p:nvSpPr>
        <p:spPr>
          <a:xfrm>
            <a:off x="5467350" y="3105150"/>
            <a:ext cx="1695450" cy="838200"/>
          </a:xfrm>
          <a:prstGeom prst="roundRect">
            <a:avLst>
              <a:gd name="adj" fmla="val 9091"/>
            </a:avLst>
          </a:prstGeom>
          <a:solidFill>
            <a:srgbClr val="241C35"/>
          </a:solidFill>
          <a:ln w="13335">
            <a:solidFill>
              <a:srgbClr val="49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17E187-A5DE-4671-A693-B927864C8FA0}"/>
              </a:ext>
            </a:extLst>
          </p:cNvPr>
          <p:cNvSpPr>
            <a:spLocks noGrp="1"/>
          </p:cNvSpPr>
          <p:nvPr/>
        </p:nvSpPr>
        <p:spPr>
          <a:xfrm>
            <a:off x="5619750" y="3219450"/>
            <a:ext cx="1390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Protect + publish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54F2E-DC32-4F03-9A5E-40BF391DDBC7}"/>
              </a:ext>
            </a:extLst>
          </p:cNvPr>
          <p:cNvSpPr>
            <a:spLocks noGrp="1"/>
          </p:cNvSpPr>
          <p:nvPr/>
        </p:nvSpPr>
        <p:spPr>
          <a:xfrm>
            <a:off x="5619750" y="34861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Sharp watermark plus Cloudinary secure preview.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0BD89D-5386-48AD-883A-C386F2F241E8}"/>
              </a:ext>
            </a:extLst>
          </p:cNvPr>
          <p:cNvSpPr>
            <a:spLocks noGrp="1"/>
          </p:cNvSpPr>
          <p:nvPr/>
        </p:nvSpPr>
        <p:spPr>
          <a:xfrm>
            <a:off x="5581650" y="3867150"/>
            <a:ext cx="1466850" cy="28575"/>
          </a:xfrm>
          <a:prstGeom prst="rect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D14D50-DEC3-45C7-9259-F192689AE1D4}"/>
              </a:ext>
            </a:extLst>
          </p:cNvPr>
          <p:cNvSpPr>
            <a:spLocks noGrp="1"/>
          </p:cNvSpPr>
          <p:nvPr/>
        </p:nvSpPr>
        <p:spPr>
          <a:xfrm>
            <a:off x="7658100" y="3105150"/>
            <a:ext cx="1676400" cy="838200"/>
          </a:xfrm>
          <a:prstGeom prst="roundRect">
            <a:avLst>
              <a:gd name="adj" fmla="val 9091"/>
            </a:avLst>
          </a:prstGeom>
          <a:solidFill>
            <a:srgbClr val="241C35"/>
          </a:solidFill>
          <a:ln w="1333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CECC6F-515E-42E5-87E0-52607AC591FC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Marketplace listing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77B1BD-E7C3-4037-A40E-A9D850FB7622}"/>
              </a:ext>
            </a:extLst>
          </p:cNvPr>
          <p:cNvSpPr>
            <a:spLocks noGrp="1"/>
          </p:cNvSpPr>
          <p:nvPr/>
        </p:nvSpPr>
        <p:spPr>
          <a:xfrm>
            <a:off x="7810500" y="348615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Browsable, shoppable and auction-ready.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6A4F2-A912-4B61-AAA5-ABD731E3E235}"/>
              </a:ext>
            </a:extLst>
          </p:cNvPr>
          <p:cNvSpPr>
            <a:spLocks noGrp="1"/>
          </p:cNvSpPr>
          <p:nvPr/>
        </p:nvSpPr>
        <p:spPr>
          <a:xfrm>
            <a:off x="7772400" y="3867150"/>
            <a:ext cx="1447800" cy="28575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25" name="Straight Arrow Connector 24"/>
          <p:cNvCxnSpPr>
            <a:stCxn id="9" idx="3"/>
            <a:endCxn id="13" idx="1"/>
          </p:cNvCxnSpPr>
          <p:nvPr/>
        </p:nvCxnSpPr>
        <p:spPr>
          <a:xfrm>
            <a:off x="3219450" y="3524250"/>
            <a:ext cx="342900" cy="0"/>
          </a:xfrm>
          <a:prstGeom prst="straightConnector1">
            <a:avLst/>
          </a:prstGeom>
          <a:ln w="19050">
            <a:solidFill>
              <a:srgbClr val="F59B67"/>
            </a:solidFill>
            <a:prstDash val="solid"/>
            <a:tailEnd type="arrow" w="med" len="med"/>
          </a:ln>
        </p:spPr>
      </p:cxnSp>
      <p:cxnSp>
        <p:nvCxnSpPr>
          <p:cNvPr id="26" name="Straight Arrow Connector 25"/>
          <p:cNvCxnSpPr>
            <a:stCxn id="13" idx="3"/>
            <a:endCxn id="17" idx="1"/>
          </p:cNvCxnSpPr>
          <p:nvPr/>
        </p:nvCxnSpPr>
        <p:spPr>
          <a:xfrm>
            <a:off x="5124450" y="3524250"/>
            <a:ext cx="342900" cy="0"/>
          </a:xfrm>
          <a:prstGeom prst="straightConnector1">
            <a:avLst/>
          </a:prstGeom>
          <a:ln w="19050">
            <a:solidFill>
              <a:srgbClr val="49D6C8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17" idx="3"/>
            <a:endCxn id="21" idx="1"/>
          </p:cNvCxnSpPr>
          <p:nvPr/>
        </p:nvCxnSpPr>
        <p:spPr>
          <a:xfrm>
            <a:off x="7162800" y="3524250"/>
            <a:ext cx="495300" cy="0"/>
          </a:xfrm>
          <a:prstGeom prst="straightConnector1">
            <a:avLst/>
          </a:prstGeom>
          <a:ln w="19050">
            <a:solidFill>
              <a:srgbClr val="C4A7FF"/>
            </a:solidFill>
            <a:prstDash val="solid"/>
            <a:tailEnd type="arrow" w="med" len="med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B9E8487-FAE7-4686-915B-7450AF385302}"/>
              </a:ext>
            </a:extLst>
          </p:cNvPr>
          <p:cNvSpPr>
            <a:spLocks noGrp="1"/>
          </p:cNvSpPr>
          <p:nvPr/>
        </p:nvSpPr>
        <p:spPr>
          <a:xfrm>
            <a:off x="2457450" y="4552950"/>
            <a:ext cx="1543050" cy="781050"/>
          </a:xfrm>
          <a:prstGeom prst="roundRect">
            <a:avLst>
              <a:gd name="adj" fmla="val 9756"/>
            </a:avLst>
          </a:prstGeom>
          <a:solidFill>
            <a:srgbClr val="1C2630"/>
          </a:solidFill>
          <a:ln w="13335">
            <a:solidFill>
              <a:srgbClr val="49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4C67BD-114D-4357-A536-8593C0E001B1}"/>
              </a:ext>
            </a:extLst>
          </p:cNvPr>
          <p:cNvSpPr>
            <a:spLocks noGrp="1"/>
          </p:cNvSpPr>
          <p:nvPr/>
        </p:nvSpPr>
        <p:spPr>
          <a:xfrm>
            <a:off x="2609850" y="4667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Browse / discover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CD0D89-8328-429E-95ED-EBB3C5EC8BA6}"/>
              </a:ext>
            </a:extLst>
          </p:cNvPr>
          <p:cNvSpPr>
            <a:spLocks noGrp="1"/>
          </p:cNvSpPr>
          <p:nvPr/>
        </p:nvSpPr>
        <p:spPr>
          <a:xfrm>
            <a:off x="2609850" y="49339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Collector enters catalog or auction page.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731265-6F8A-4DD6-8278-C6576E0CFEEC}"/>
              </a:ext>
            </a:extLst>
          </p:cNvPr>
          <p:cNvSpPr>
            <a:spLocks noGrp="1"/>
          </p:cNvSpPr>
          <p:nvPr/>
        </p:nvSpPr>
        <p:spPr>
          <a:xfrm>
            <a:off x="2571750" y="5257800"/>
            <a:ext cx="1314450" cy="28575"/>
          </a:xfrm>
          <a:prstGeom prst="rect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D04A24E-235B-4D8B-AE0D-EC1E683FB83A}"/>
              </a:ext>
            </a:extLst>
          </p:cNvPr>
          <p:cNvSpPr>
            <a:spLocks noGrp="1"/>
          </p:cNvSpPr>
          <p:nvPr/>
        </p:nvSpPr>
        <p:spPr>
          <a:xfrm>
            <a:off x="4419600" y="4552950"/>
            <a:ext cx="1676400" cy="781050"/>
          </a:xfrm>
          <a:prstGeom prst="roundRect">
            <a:avLst>
              <a:gd name="adj" fmla="val 9756"/>
            </a:avLst>
          </a:prstGeom>
          <a:solidFill>
            <a:srgbClr val="1C2630"/>
          </a:solidFill>
          <a:ln w="13335">
            <a:solidFill>
              <a:srgbClr val="F2C9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3B1ADF-0260-42C1-B82D-DA461F95A0BA}"/>
              </a:ext>
            </a:extLst>
          </p:cNvPr>
          <p:cNvSpPr>
            <a:spLocks noGrp="1"/>
          </p:cNvSpPr>
          <p:nvPr/>
        </p:nvSpPr>
        <p:spPr>
          <a:xfrm>
            <a:off x="4572000" y="46672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DM or bid live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516653-2D49-4B9D-AB66-156A0A91FB87}"/>
              </a:ext>
            </a:extLst>
          </p:cNvPr>
          <p:cNvSpPr>
            <a:spLocks noGrp="1"/>
          </p:cNvSpPr>
          <p:nvPr/>
        </p:nvSpPr>
        <p:spPr>
          <a:xfrm>
            <a:off x="4572000" y="4933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Direct chat and WebSocket bidding.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230D09-F525-4D6F-8E53-155F1F15BED6}"/>
              </a:ext>
            </a:extLst>
          </p:cNvPr>
          <p:cNvSpPr>
            <a:spLocks noGrp="1"/>
          </p:cNvSpPr>
          <p:nvPr/>
        </p:nvSpPr>
        <p:spPr>
          <a:xfrm>
            <a:off x="4533900" y="5257800"/>
            <a:ext cx="1447800" cy="28575"/>
          </a:xfrm>
          <a:prstGeom prst="rect">
            <a:avLst/>
          </a:prstGeom>
          <a:solidFill>
            <a:srgbClr val="F2C96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C4435F5-0CAC-458E-9D2B-D08667FC5C7B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1524000" cy="781050"/>
          </a:xfrm>
          <a:prstGeom prst="roundRect">
            <a:avLst>
              <a:gd name="adj" fmla="val 9756"/>
            </a:avLst>
          </a:prstGeom>
          <a:solidFill>
            <a:srgbClr val="1C2630"/>
          </a:solidFill>
          <a:ln w="13335">
            <a:solidFill>
              <a:srgbClr val="F59B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B07C56-B36E-4CD6-BB4C-2FA0C9151768}"/>
              </a:ext>
            </a:extLst>
          </p:cNvPr>
          <p:cNvSpPr>
            <a:spLocks noGrp="1"/>
          </p:cNvSpPr>
          <p:nvPr/>
        </p:nvSpPr>
        <p:spPr>
          <a:xfrm>
            <a:off x="6667500" y="4667250"/>
            <a:ext cx="121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Checkout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F4700A-15BC-4C1D-8C40-933328E88193}"/>
              </a:ext>
            </a:extLst>
          </p:cNvPr>
          <p:cNvSpPr>
            <a:spLocks noGrp="1"/>
          </p:cNvSpPr>
          <p:nvPr/>
        </p:nvSpPr>
        <p:spPr>
          <a:xfrm>
            <a:off x="6667500" y="49339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Stripe and Khalti payment flow.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06D341-6BF8-484B-8BC8-04AA5C4BA3A0}"/>
              </a:ext>
            </a:extLst>
          </p:cNvPr>
          <p:cNvSpPr>
            <a:spLocks noGrp="1"/>
          </p:cNvSpPr>
          <p:nvPr/>
        </p:nvSpPr>
        <p:spPr>
          <a:xfrm>
            <a:off x="6629400" y="5257800"/>
            <a:ext cx="1295400" cy="28575"/>
          </a:xfrm>
          <a:prstGeom prst="rect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BF27C6B-30D1-4D25-ABC3-EEDD661F0053}"/>
              </a:ext>
            </a:extLst>
          </p:cNvPr>
          <p:cNvSpPr>
            <a:spLocks noGrp="1"/>
          </p:cNvSpPr>
          <p:nvPr/>
        </p:nvSpPr>
        <p:spPr>
          <a:xfrm>
            <a:off x="8458200" y="4552950"/>
            <a:ext cx="1676400" cy="781050"/>
          </a:xfrm>
          <a:prstGeom prst="roundRect">
            <a:avLst>
              <a:gd name="adj" fmla="val 9756"/>
            </a:avLst>
          </a:prstGeom>
          <a:solidFill>
            <a:srgbClr val="1C2630"/>
          </a:solidFill>
          <a:ln w="13335">
            <a:solidFill>
              <a:srgbClr val="C4A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BFEA524-C522-48BA-9D02-7599ABB8D649}"/>
              </a:ext>
            </a:extLst>
          </p:cNvPr>
          <p:cNvSpPr>
            <a:spLocks noGrp="1"/>
          </p:cNvSpPr>
          <p:nvPr/>
        </p:nvSpPr>
        <p:spPr>
          <a:xfrm>
            <a:off x="8610600" y="466725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Dashboard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8E086B-235F-4B74-B06B-48A6CA1ADB62}"/>
              </a:ext>
            </a:extLst>
          </p:cNvPr>
          <p:cNvSpPr>
            <a:spLocks noGrp="1"/>
          </p:cNvSpPr>
          <p:nvPr/>
        </p:nvSpPr>
        <p:spPr>
          <a:xfrm>
            <a:off x="8610600" y="4933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Orders, uploads and activity.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A2BC8B-BDD7-4716-9AAB-EA4E29670DF8}"/>
              </a:ext>
            </a:extLst>
          </p:cNvPr>
          <p:cNvSpPr>
            <a:spLocks noGrp="1"/>
          </p:cNvSpPr>
          <p:nvPr/>
        </p:nvSpPr>
        <p:spPr>
          <a:xfrm>
            <a:off x="8572500" y="5257800"/>
            <a:ext cx="1447800" cy="28575"/>
          </a:xfrm>
          <a:prstGeom prst="rect">
            <a:avLst/>
          </a:prstGeom>
          <a:solidFill>
            <a:srgbClr val="C4A7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44" name="Straight Arrow Connector 43"/>
          <p:cNvCxnSpPr>
            <a:stCxn id="28" idx="3"/>
            <a:endCxn id="32" idx="1"/>
          </p:cNvCxnSpPr>
          <p:nvPr/>
        </p:nvCxnSpPr>
        <p:spPr>
          <a:xfrm>
            <a:off x="4000500" y="4943475"/>
            <a:ext cx="419100" cy="0"/>
          </a:xfrm>
          <a:prstGeom prst="straightConnector1">
            <a:avLst/>
          </a:prstGeom>
          <a:ln w="19050">
            <a:solidFill>
              <a:srgbClr val="F2C96D"/>
            </a:solidFill>
            <a:prstDash val="solid"/>
            <a:tailEnd type="arrow" w="med" len="med"/>
          </a:ln>
        </p:spPr>
      </p:cxnSp>
      <p:cxnSp>
        <p:nvCxnSpPr>
          <p:cNvPr id="45" name="Straight Arrow Connector 44"/>
          <p:cNvCxnSpPr>
            <a:stCxn id="32" idx="3"/>
            <a:endCxn id="36" idx="1"/>
          </p:cNvCxnSpPr>
          <p:nvPr/>
        </p:nvCxnSpPr>
        <p:spPr>
          <a:xfrm>
            <a:off x="6096000" y="4943475"/>
            <a:ext cx="419100" cy="0"/>
          </a:xfrm>
          <a:prstGeom prst="straightConnector1">
            <a:avLst/>
          </a:prstGeom>
          <a:ln w="19050">
            <a:solidFill>
              <a:srgbClr val="F59B67"/>
            </a:solidFill>
            <a:prstDash val="solid"/>
            <a:tailEnd type="arrow" w="med" len="med"/>
          </a:ln>
        </p:spPr>
      </p:cxnSp>
      <p:cxnSp>
        <p:nvCxnSpPr>
          <p:cNvPr id="46" name="Straight Arrow Connector 45"/>
          <p:cNvCxnSpPr>
            <a:stCxn id="36" idx="3"/>
            <a:endCxn id="40" idx="1"/>
          </p:cNvCxnSpPr>
          <p:nvPr/>
        </p:nvCxnSpPr>
        <p:spPr>
          <a:xfrm>
            <a:off x="8039100" y="4943475"/>
            <a:ext cx="419100" cy="0"/>
          </a:xfrm>
          <a:prstGeom prst="straightConnector1">
            <a:avLst/>
          </a:prstGeom>
          <a:ln w="19050">
            <a:solidFill>
              <a:srgbClr val="C4A7FF"/>
            </a:solidFill>
            <a:prstDash val="solid"/>
            <a:tailEnd type="arrow" w="med" len="med"/>
          </a:ln>
        </p:spPr>
      </p:cxnSp>
      <p:cxnSp>
        <p:nvCxnSpPr>
          <p:cNvPr id="47" name="Connector: Elbow 46"/>
          <p:cNvCxnSpPr>
            <a:stCxn id="21" idx="2"/>
            <a:endCxn id="28" idx="0"/>
          </p:cNvCxnSpPr>
          <p:nvPr/>
        </p:nvCxnSpPr>
        <p:spPr>
          <a:xfrm flipH="1">
            <a:off x="3228975" y="3943350"/>
            <a:ext cx="5267325" cy="609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49D6C8"/>
            </a:solidFill>
            <a:prstDash val="dash"/>
            <a:tailEnd type="arrow" w="med" len="med"/>
          </a:ln>
        </p:spPr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64BA04F-9D08-4EBE-BEE0-F285977DFFB6}"/>
              </a:ext>
            </a:extLst>
          </p:cNvPr>
          <p:cNvSpPr>
            <a:spLocks noGrp="1"/>
          </p:cNvSpPr>
          <p:nvPr/>
        </p:nvSpPr>
        <p:spPr>
          <a:xfrm>
            <a:off x="8401050" y="723900"/>
            <a:ext cx="2971800" cy="1676400"/>
          </a:xfrm>
          <a:prstGeom prst="roundRect">
            <a:avLst>
              <a:gd name="adj" fmla="val 4545"/>
            </a:avLst>
          </a:prstGeom>
          <a:solidFill>
            <a:srgbClr val="20182F"/>
          </a:solidFill>
          <a:ln w="9525">
            <a:solidFill>
              <a:srgbClr val="5140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76A7298-01B6-4588-AA19-B78E5ED358D6}"/>
              </a:ext>
            </a:extLst>
          </p:cNvPr>
          <p:cNvSpPr>
            <a:spLocks noGrp="1"/>
          </p:cNvSpPr>
          <p:nvPr/>
        </p:nvSpPr>
        <p:spPr>
          <a:xfrm>
            <a:off x="8629650" y="9144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302442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CC8030-506C-4DAC-A0BF-BE2F54C70900}"/>
              </a:ext>
            </a:extLst>
          </p:cNvPr>
          <p:cNvSpPr>
            <a:spLocks noGrp="1"/>
          </p:cNvSpPr>
          <p:nvPr/>
        </p:nvSpPr>
        <p:spPr>
          <a:xfrm>
            <a:off x="8743950" y="962025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What MetArt fixes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5CC4CB7-F0BA-43E1-BBD6-2647C90E6C41}"/>
              </a:ext>
            </a:extLst>
          </p:cNvPr>
          <p:cNvSpPr>
            <a:spLocks noGrp="1"/>
          </p:cNvSpPr>
          <p:nvPr/>
        </p:nvSpPr>
        <p:spPr>
          <a:xfrm>
            <a:off x="8629650" y="1343025"/>
            <a:ext cx="57150" cy="571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F47B21-B693-490E-9707-594A15CC7DA1}"/>
              </a:ext>
            </a:extLst>
          </p:cNvPr>
          <p:cNvSpPr>
            <a:spLocks noGrp="1"/>
          </p:cNvSpPr>
          <p:nvPr/>
        </p:nvSpPr>
        <p:spPr>
          <a:xfrm>
            <a:off x="8763000" y="127635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AI co-pilot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E2127A4-B099-4230-8EB0-E5D468D58DAD}"/>
              </a:ext>
            </a:extLst>
          </p:cNvPr>
          <p:cNvSpPr>
            <a:spLocks noGrp="1"/>
          </p:cNvSpPr>
          <p:nvPr/>
        </p:nvSpPr>
        <p:spPr>
          <a:xfrm>
            <a:off x="9848850" y="127635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Faster professional listings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69EEE8F-4AF7-48F7-87D2-F4D927E86B6B}"/>
              </a:ext>
            </a:extLst>
          </p:cNvPr>
          <p:cNvSpPr>
            <a:spLocks noGrp="1"/>
          </p:cNvSpPr>
          <p:nvPr/>
        </p:nvSpPr>
        <p:spPr>
          <a:xfrm>
            <a:off x="8629650" y="1600200"/>
            <a:ext cx="57150" cy="5715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49B81D2-9A96-440A-A4A6-8463267C9274}"/>
              </a:ext>
            </a:extLst>
          </p:cNvPr>
          <p:cNvSpPr>
            <a:spLocks noGrp="1"/>
          </p:cNvSpPr>
          <p:nvPr/>
        </p:nvSpPr>
        <p:spPr>
          <a:xfrm>
            <a:off x="8763000" y="153352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Auto-watermark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162F969-A254-41DB-9AF7-6D1A29D22DC6}"/>
              </a:ext>
            </a:extLst>
          </p:cNvPr>
          <p:cNvSpPr>
            <a:spLocks noGrp="1"/>
          </p:cNvSpPr>
          <p:nvPr/>
        </p:nvSpPr>
        <p:spPr>
          <a:xfrm>
            <a:off x="9848850" y="1533525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Anti-piracy preview pipeline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2B73D60-1845-4A8C-81F4-C59A472F9F9C}"/>
              </a:ext>
            </a:extLst>
          </p:cNvPr>
          <p:cNvSpPr>
            <a:spLocks noGrp="1"/>
          </p:cNvSpPr>
          <p:nvPr/>
        </p:nvSpPr>
        <p:spPr>
          <a:xfrm>
            <a:off x="8629650" y="1857375"/>
            <a:ext cx="57150" cy="571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F77E6F-A439-4C3A-BD3A-1374CE0A5EFA}"/>
              </a:ext>
            </a:extLst>
          </p:cNvPr>
          <p:cNvSpPr>
            <a:spLocks noGrp="1"/>
          </p:cNvSpPr>
          <p:nvPr/>
        </p:nvSpPr>
        <p:spPr>
          <a:xfrm>
            <a:off x="8763000" y="17907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Realtime auctions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6BB9E5-6E36-44A1-90E1-28DB921AE346}"/>
              </a:ext>
            </a:extLst>
          </p:cNvPr>
          <p:cNvSpPr>
            <a:spLocks noGrp="1"/>
          </p:cNvSpPr>
          <p:nvPr/>
        </p:nvSpPr>
        <p:spPr>
          <a:xfrm>
            <a:off x="9848850" y="1790700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Accessible bidding for indie art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336794A-C021-4BDB-9A7B-794636D43DFD}"/>
              </a:ext>
            </a:extLst>
          </p:cNvPr>
          <p:cNvSpPr>
            <a:spLocks noGrp="1"/>
          </p:cNvSpPr>
          <p:nvPr/>
        </p:nvSpPr>
        <p:spPr>
          <a:xfrm>
            <a:off x="8629650" y="2114550"/>
            <a:ext cx="57150" cy="5715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9510A8E-53A9-4E76-8CC7-1C92043AC9C0}"/>
              </a:ext>
            </a:extLst>
          </p:cNvPr>
          <p:cNvSpPr>
            <a:spLocks noGrp="1"/>
          </p:cNvSpPr>
          <p:nvPr/>
        </p:nvSpPr>
        <p:spPr>
          <a:xfrm>
            <a:off x="8763000" y="2047875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Direct DMs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6E8E85-A3BB-49EF-AFC9-B18070CDC0E1}"/>
              </a:ext>
            </a:extLst>
          </p:cNvPr>
          <p:cNvSpPr>
            <a:spLocks noGrp="1"/>
          </p:cNvSpPr>
          <p:nvPr/>
        </p:nvSpPr>
        <p:spPr>
          <a:xfrm>
            <a:off x="9848850" y="2047875"/>
            <a:ext cx="1257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Creator and collector relationship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B385C30-6EA9-4A19-8830-5FC0D2C95E16}"/>
              </a:ext>
            </a:extLst>
          </p:cNvPr>
          <p:cNvSpPr>
            <a:spLocks noGrp="1"/>
          </p:cNvSpPr>
          <p:nvPr/>
        </p:nvSpPr>
        <p:spPr>
          <a:xfrm>
            <a:off x="857250" y="575310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One-line pitch: MetArt helps independent artists protect, sell, auction and monetize digital artwork directly with collectors.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A11F371-9497-440F-8555-E874FAD2350D}"/>
              </a:ext>
            </a:extLst>
          </p:cNvPr>
          <p:cNvSpPr>
            <a:spLocks noGrp="1"/>
          </p:cNvSpPr>
          <p:nvPr/>
        </p:nvSpPr>
        <p:spPr>
          <a:xfrm>
            <a:off x="9372600" y="575310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332843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14DA95-1F4A-439D-B55E-E9A47DD5768C}"/>
              </a:ext>
            </a:extLst>
          </p:cNvPr>
          <p:cNvSpPr>
            <a:spLocks noGrp="1"/>
          </p:cNvSpPr>
          <p:nvPr/>
        </p:nvSpPr>
        <p:spPr>
          <a:xfrm>
            <a:off x="9486900" y="5800725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49D6C8"/>
                </a:solidFill>
                <a:latin typeface="Segoe UI"/>
                <a:ea typeface="Segoe UI"/>
                <a:cs typeface="Segoe UI"/>
              </a:defRPr>
            </a:pPr>
            <a:r>
              <a:t>No middleman ownership of the relationship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A7B592-9D14-4186-9627-8D2CB6B62261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MetArt Phase 1 Pitch Deck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795D78-1D2E-4638-A00B-18D29AE49DC9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60849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BD4BE93-FFE5-48BA-917E-049AD27FD2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18"/>
              </a:gs>
              <a:gs pos="62000">
                <a:srgbClr val="171225"/>
              </a:gs>
              <a:gs pos="100000">
                <a:srgbClr val="21152C"/>
              </a:gs>
            </a:gsLst>
            <a:lin ang="108000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4117BE5A-7856-4BF6-96B7-C9EF16D0EA5F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33350" cy="1333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EE68A20E-A862-4577-AC8B-C476177F107E}"/>
              </a:ext>
            </a:extLst>
          </p:cNvPr>
          <p:cNvSpPr>
            <a:spLocks noGrp="1"/>
          </p:cNvSpPr>
          <p:nvPr/>
        </p:nvSpPr>
        <p:spPr>
          <a:xfrm>
            <a:off x="762000" y="3143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TOOLS + TECH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04FE7-E061-40B4-8A8E-863F82EF210B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8572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92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The stack is built around secure media, realtime bidding, and AI listing support.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E605F-CEAA-4056-8EF6-26C6CEABAD51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838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MetArt is a MERN product architecture with AI vision, image processing, protected storage, WebSocket interactions, and payment rails aligned to the creator revenue journey.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A11E1A-71C4-439B-8388-19F4FBBBD292}"/>
              </a:ext>
            </a:extLst>
          </p:cNvPr>
          <p:cNvSpPr>
            <a:spLocks noGrp="1"/>
          </p:cNvSpPr>
          <p:nvPr/>
        </p:nvSpPr>
        <p:spPr>
          <a:xfrm>
            <a:off x="704850" y="2895600"/>
            <a:ext cx="1562100" cy="990600"/>
          </a:xfrm>
          <a:prstGeom prst="roundRect">
            <a:avLst>
              <a:gd name="adj" fmla="val 7692"/>
            </a:avLst>
          </a:prstGeom>
          <a:solidFill>
            <a:srgbClr val="21182F"/>
          </a:solidFill>
          <a:ln w="13335">
            <a:solidFill>
              <a:srgbClr val="C4A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B7A74-9E97-47A9-AAF2-F8EC7B33568B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React 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8451F2-0520-4A55-94EC-F37300D5E96E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1257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Upload UI, catalog, carts, profiles, AI suggestion panel.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26CE2F-7984-4631-8579-4B120EBAA9A2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1333500" cy="28575"/>
          </a:xfrm>
          <a:prstGeom prst="rect">
            <a:avLst/>
          </a:prstGeom>
          <a:solidFill>
            <a:srgbClr val="C4A7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68CE28-7B83-4882-A635-058B0E7AEA88}"/>
              </a:ext>
            </a:extLst>
          </p:cNvPr>
          <p:cNvSpPr>
            <a:spLocks noGrp="1"/>
          </p:cNvSpPr>
          <p:nvPr/>
        </p:nvSpPr>
        <p:spPr>
          <a:xfrm>
            <a:off x="2781300" y="2895600"/>
            <a:ext cx="1676400" cy="990600"/>
          </a:xfrm>
          <a:prstGeom prst="roundRect">
            <a:avLst>
              <a:gd name="adj" fmla="val 7692"/>
            </a:avLst>
          </a:prstGeom>
          <a:solidFill>
            <a:srgbClr val="21182F"/>
          </a:solidFill>
          <a:ln w="13335">
            <a:solidFill>
              <a:srgbClr val="F59B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82C0-BBA5-459C-8EFE-66BDE38F328D}"/>
              </a:ext>
            </a:extLst>
          </p:cNvPr>
          <p:cNvSpPr>
            <a:spLocks noGrp="1"/>
          </p:cNvSpPr>
          <p:nvPr/>
        </p:nvSpPr>
        <p:spPr>
          <a:xfrm>
            <a:off x="2933700" y="3009900"/>
            <a:ext cx="1371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Express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C2E37-8C80-45C2-B411-D604402781B5}"/>
              </a:ext>
            </a:extLst>
          </p:cNvPr>
          <p:cNvSpPr>
            <a:spLocks noGrp="1"/>
          </p:cNvSpPr>
          <p:nvPr/>
        </p:nvSpPr>
        <p:spPr>
          <a:xfrm>
            <a:off x="2933700" y="3276600"/>
            <a:ext cx="1371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Routes, controllers, auth middleware, upload orchestration.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85C3C-2238-4BA2-A531-626B8D541B0E}"/>
              </a:ext>
            </a:extLst>
          </p:cNvPr>
          <p:cNvSpPr>
            <a:spLocks noGrp="1"/>
          </p:cNvSpPr>
          <p:nvPr/>
        </p:nvSpPr>
        <p:spPr>
          <a:xfrm>
            <a:off x="2895600" y="3810000"/>
            <a:ext cx="1447800" cy="28575"/>
          </a:xfrm>
          <a:prstGeom prst="rect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D6FE6A-B152-4AC8-BD1E-C90487E2C1E4}"/>
              </a:ext>
            </a:extLst>
          </p:cNvPr>
          <p:cNvSpPr>
            <a:spLocks noGrp="1"/>
          </p:cNvSpPr>
          <p:nvPr/>
        </p:nvSpPr>
        <p:spPr>
          <a:xfrm>
            <a:off x="4972050" y="2895600"/>
            <a:ext cx="1962150" cy="990600"/>
          </a:xfrm>
          <a:prstGeom prst="roundRect">
            <a:avLst>
              <a:gd name="adj" fmla="val 7692"/>
            </a:avLst>
          </a:prstGeom>
          <a:solidFill>
            <a:srgbClr val="21182F"/>
          </a:solidFill>
          <a:ln w="13335">
            <a:solidFill>
              <a:srgbClr val="49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769C10-E4CB-42E2-BA0F-D43C5FF9DE7C}"/>
              </a:ext>
            </a:extLst>
          </p:cNvPr>
          <p:cNvSpPr>
            <a:spLocks noGrp="1"/>
          </p:cNvSpPr>
          <p:nvPr/>
        </p:nvSpPr>
        <p:spPr>
          <a:xfrm>
            <a:off x="5124450" y="300990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AI + media pipeline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0BA98-7382-4A84-9F17-98CB847AE5F9}"/>
              </a:ext>
            </a:extLst>
          </p:cNvPr>
          <p:cNvSpPr>
            <a:spLocks noGrp="1"/>
          </p:cNvSpPr>
          <p:nvPr/>
        </p:nvSpPr>
        <p:spPr>
          <a:xfrm>
            <a:off x="5124450" y="3276600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OpenAI GPT-4o vision, local fallback, Sharp watermark overlay.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A0D60E-6EC6-46FC-9EC2-F1E871ED9E8B}"/>
              </a:ext>
            </a:extLst>
          </p:cNvPr>
          <p:cNvSpPr>
            <a:spLocks noGrp="1"/>
          </p:cNvSpPr>
          <p:nvPr/>
        </p:nvSpPr>
        <p:spPr>
          <a:xfrm>
            <a:off x="5086350" y="3810000"/>
            <a:ext cx="1733550" cy="28575"/>
          </a:xfrm>
          <a:prstGeom prst="rect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1055AE-14D6-4CE2-8E64-2B791BE76816}"/>
              </a:ext>
            </a:extLst>
          </p:cNvPr>
          <p:cNvSpPr>
            <a:spLocks noGrp="1"/>
          </p:cNvSpPr>
          <p:nvPr/>
        </p:nvSpPr>
        <p:spPr>
          <a:xfrm>
            <a:off x="7448550" y="2895600"/>
            <a:ext cx="1924050" cy="990600"/>
          </a:xfrm>
          <a:prstGeom prst="roundRect">
            <a:avLst>
              <a:gd name="adj" fmla="val 7692"/>
            </a:avLst>
          </a:prstGeom>
          <a:solidFill>
            <a:srgbClr val="21182F"/>
          </a:solidFill>
          <a:ln w="13335">
            <a:solidFill>
              <a:srgbClr val="F2C9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01367D-46CE-4C5C-8C22-6EC1A53E90D7}"/>
              </a:ext>
            </a:extLst>
          </p:cNvPr>
          <p:cNvSpPr>
            <a:spLocks noGrp="1"/>
          </p:cNvSpPr>
          <p:nvPr/>
        </p:nvSpPr>
        <p:spPr>
          <a:xfrm>
            <a:off x="7600950" y="30099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Realtime commerce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A1D46F-891D-414C-BC00-1EEFC2B81B39}"/>
              </a:ext>
            </a:extLst>
          </p:cNvPr>
          <p:cNvSpPr>
            <a:spLocks noGrp="1"/>
          </p:cNvSpPr>
          <p:nvPr/>
        </p:nvSpPr>
        <p:spPr>
          <a:xfrm>
            <a:off x="7600950" y="327660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Socket.IO auctions, direct DMs, Stripe and Khalti checkout.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47AD4F-193A-4213-A2ED-DE691CE08AA0}"/>
              </a:ext>
            </a:extLst>
          </p:cNvPr>
          <p:cNvSpPr>
            <a:spLocks noGrp="1"/>
          </p:cNvSpPr>
          <p:nvPr/>
        </p:nvSpPr>
        <p:spPr>
          <a:xfrm>
            <a:off x="7562850" y="3810000"/>
            <a:ext cx="1695450" cy="28575"/>
          </a:xfrm>
          <a:prstGeom prst="rect">
            <a:avLst/>
          </a:prstGeom>
          <a:solidFill>
            <a:srgbClr val="F2C96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68CC14-970E-4FB4-A239-108E01D788B6}"/>
              </a:ext>
            </a:extLst>
          </p:cNvPr>
          <p:cNvSpPr>
            <a:spLocks noGrp="1"/>
          </p:cNvSpPr>
          <p:nvPr/>
        </p:nvSpPr>
        <p:spPr>
          <a:xfrm>
            <a:off x="9810750" y="2895600"/>
            <a:ext cx="1600200" cy="990600"/>
          </a:xfrm>
          <a:prstGeom prst="roundRect">
            <a:avLst>
              <a:gd name="adj" fmla="val 7692"/>
            </a:avLst>
          </a:prstGeom>
          <a:solidFill>
            <a:srgbClr val="21182F"/>
          </a:solidFill>
          <a:ln w="1333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9E524F-2F38-42E2-83C6-D36C0C35B285}"/>
              </a:ext>
            </a:extLst>
          </p:cNvPr>
          <p:cNvSpPr>
            <a:spLocks noGrp="1"/>
          </p:cNvSpPr>
          <p:nvPr/>
        </p:nvSpPr>
        <p:spPr>
          <a:xfrm>
            <a:off x="9963150" y="3009900"/>
            <a:ext cx="1295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Data + storage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82CFC-1739-44F9-9C2B-B4ACB6578F33}"/>
              </a:ext>
            </a:extLst>
          </p:cNvPr>
          <p:cNvSpPr>
            <a:spLocks noGrp="1"/>
          </p:cNvSpPr>
          <p:nvPr/>
        </p:nvSpPr>
        <p:spPr>
          <a:xfrm>
            <a:off x="9963150" y="32766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4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MongoDB/Mongoose, Cloudinary images, role-based records.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9148FA-9045-4BC7-A13C-9FF35300B9DE}"/>
              </a:ext>
            </a:extLst>
          </p:cNvPr>
          <p:cNvSpPr>
            <a:spLocks noGrp="1"/>
          </p:cNvSpPr>
          <p:nvPr/>
        </p:nvSpPr>
        <p:spPr>
          <a:xfrm>
            <a:off x="9925050" y="3810000"/>
            <a:ext cx="1371600" cy="28575"/>
          </a:xfrm>
          <a:prstGeom prst="rect">
            <a:avLst/>
          </a:prstGeom>
          <a:solidFill>
            <a:srgbClr val="8B5CF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26" name="Straight Arrow Connector 25"/>
          <p:cNvCxnSpPr>
            <a:stCxn id="6" idx="3"/>
            <a:endCxn id="10" idx="1"/>
          </p:cNvCxnSpPr>
          <p:nvPr/>
        </p:nvCxnSpPr>
        <p:spPr>
          <a:xfrm>
            <a:off x="2266950" y="3390900"/>
            <a:ext cx="514350" cy="0"/>
          </a:xfrm>
          <a:prstGeom prst="straightConnector1">
            <a:avLst/>
          </a:prstGeom>
          <a:ln w="19050">
            <a:solidFill>
              <a:srgbClr val="F59B67"/>
            </a:solidFill>
            <a:prstDash val="solid"/>
            <a:tailEnd type="arrow" w="med" len="med"/>
          </a:ln>
        </p:spPr>
      </p:cxnSp>
      <p:cxnSp>
        <p:nvCxnSpPr>
          <p:cNvPr id="27" name="Straight Arrow Connector 26"/>
          <p:cNvCxnSpPr>
            <a:stCxn id="10" idx="3"/>
            <a:endCxn id="14" idx="1"/>
          </p:cNvCxnSpPr>
          <p:nvPr/>
        </p:nvCxnSpPr>
        <p:spPr>
          <a:xfrm>
            <a:off x="4457700" y="3390900"/>
            <a:ext cx="514350" cy="0"/>
          </a:xfrm>
          <a:prstGeom prst="straightConnector1">
            <a:avLst/>
          </a:prstGeom>
          <a:ln w="19050">
            <a:solidFill>
              <a:srgbClr val="49D6C8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14" idx="3"/>
            <a:endCxn id="18" idx="1"/>
          </p:cNvCxnSpPr>
          <p:nvPr/>
        </p:nvCxnSpPr>
        <p:spPr>
          <a:xfrm>
            <a:off x="6934200" y="3390900"/>
            <a:ext cx="514350" cy="0"/>
          </a:xfrm>
          <a:prstGeom prst="straightConnector1">
            <a:avLst/>
          </a:prstGeom>
          <a:ln w="19050">
            <a:solidFill>
              <a:srgbClr val="F2C96D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18" idx="3"/>
            <a:endCxn id="22" idx="1"/>
          </p:cNvCxnSpPr>
          <p:nvPr/>
        </p:nvCxnSpPr>
        <p:spPr>
          <a:xfrm>
            <a:off x="9372600" y="3390900"/>
            <a:ext cx="438150" cy="0"/>
          </a:xfrm>
          <a:prstGeom prst="straightConnector1">
            <a:avLst/>
          </a:prstGeom>
          <a:ln w="19050">
            <a:solidFill>
              <a:srgbClr val="C4A7FF"/>
            </a:solidFill>
            <a:prstDash val="solid"/>
            <a:tailEnd type="arrow" w="med" len="med"/>
          </a:ln>
        </p:spPr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CB80F8A-3F47-4DC9-8A37-E96FD81B32EF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10706100" cy="1257300"/>
          </a:xfrm>
          <a:prstGeom prst="roundRect">
            <a:avLst>
              <a:gd name="adj" fmla="val 6061"/>
            </a:avLst>
          </a:prstGeom>
          <a:solidFill>
            <a:srgbClr val="171321"/>
          </a:solidFill>
          <a:ln w="11430">
            <a:solidFill>
              <a:srgbClr val="4A3B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8EF1A1-51C8-40F9-9D8A-92DDA14BA20C}"/>
              </a:ext>
            </a:extLst>
          </p:cNvPr>
          <p:cNvSpPr>
            <a:spLocks noGrp="1"/>
          </p:cNvSpPr>
          <p:nvPr/>
        </p:nvSpPr>
        <p:spPr>
          <a:xfrm>
            <a:off x="933450" y="46291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Why this stack matters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6AD027A-9682-4D45-A3E2-3C0989B199FD}"/>
              </a:ext>
            </a:extLst>
          </p:cNvPr>
          <p:cNvSpPr>
            <a:spLocks noGrp="1"/>
          </p:cNvSpPr>
          <p:nvPr/>
        </p:nvSpPr>
        <p:spPr>
          <a:xfrm>
            <a:off x="1047750" y="4972050"/>
            <a:ext cx="228600" cy="22860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ED3E481-9EA6-4DD3-9CBA-3F2508BAC0FD}"/>
              </a:ext>
            </a:extLst>
          </p:cNvPr>
          <p:cNvSpPr>
            <a:spLocks noGrp="1"/>
          </p:cNvSpPr>
          <p:nvPr/>
        </p:nvSpPr>
        <p:spPr>
          <a:xfrm>
            <a:off x="1409700" y="49149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Listing speed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FC2A01-2523-4BDC-B40C-203EFC36152D}"/>
              </a:ext>
            </a:extLst>
          </p:cNvPr>
          <p:cNvSpPr>
            <a:spLocks noGrp="1"/>
          </p:cNvSpPr>
          <p:nvPr/>
        </p:nvSpPr>
        <p:spPr>
          <a:xfrm>
            <a:off x="1409700" y="51435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AI turns an image into polished catalog copy, tags, pricing and watermark placement.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E4A2542-ABA2-4054-86C0-6FDE57552162}"/>
              </a:ext>
            </a:extLst>
          </p:cNvPr>
          <p:cNvSpPr>
            <a:spLocks noGrp="1"/>
          </p:cNvSpPr>
          <p:nvPr/>
        </p:nvSpPr>
        <p:spPr>
          <a:xfrm>
            <a:off x="4429125" y="4972050"/>
            <a:ext cx="228600" cy="22860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83CDE8-B6D6-4951-B4C4-D697B930D032}"/>
              </a:ext>
            </a:extLst>
          </p:cNvPr>
          <p:cNvSpPr>
            <a:spLocks noGrp="1"/>
          </p:cNvSpPr>
          <p:nvPr/>
        </p:nvSpPr>
        <p:spPr>
          <a:xfrm>
            <a:off x="4791075" y="49149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Asset protection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4A855E-383D-4C48-B8F5-AC2AD435591F}"/>
              </a:ext>
            </a:extLst>
          </p:cNvPr>
          <p:cNvSpPr>
            <a:spLocks noGrp="1"/>
          </p:cNvSpPr>
          <p:nvPr/>
        </p:nvSpPr>
        <p:spPr>
          <a:xfrm>
            <a:off x="4791075" y="51435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Sharp overlays the watermark before secure Cloudinary upload.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C3BE921-2BD9-40CA-8CBB-2D1BE34B1ED6}"/>
              </a:ext>
            </a:extLst>
          </p:cNvPr>
          <p:cNvSpPr>
            <a:spLocks noGrp="1"/>
          </p:cNvSpPr>
          <p:nvPr/>
        </p:nvSpPr>
        <p:spPr>
          <a:xfrm>
            <a:off x="7810500" y="4972050"/>
            <a:ext cx="228600" cy="228600"/>
          </a:xfrm>
          <a:prstGeom prst="ellipse">
            <a:avLst/>
          </a:prstGeom>
          <a:solidFill>
            <a:srgbClr val="F2C96D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EEE70B-62A3-4209-A50A-C8D447B3DA6D}"/>
              </a:ext>
            </a:extLst>
          </p:cNvPr>
          <p:cNvSpPr>
            <a:spLocks noGrp="1"/>
          </p:cNvSpPr>
          <p:nvPr/>
        </p:nvSpPr>
        <p:spPr>
          <a:xfrm>
            <a:off x="8172450" y="49149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Direct monetization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FA4449-03AC-4E96-BF94-CFC3DC630E28}"/>
              </a:ext>
            </a:extLst>
          </p:cNvPr>
          <p:cNvSpPr>
            <a:spLocks noGrp="1"/>
          </p:cNvSpPr>
          <p:nvPr/>
        </p:nvSpPr>
        <p:spPr>
          <a:xfrm>
            <a:off x="8172450" y="51435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Auctions, DMs and payments connect collectors to artists without extra friction.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9C2B553-8561-4AA0-AEA5-EB6C3D9F567A}"/>
              </a:ext>
            </a:extLst>
          </p:cNvPr>
          <p:cNvSpPr>
            <a:spLocks noGrp="1"/>
          </p:cNvSpPr>
          <p:nvPr/>
        </p:nvSpPr>
        <p:spPr>
          <a:xfrm>
            <a:off x="9201150" y="781050"/>
            <a:ext cx="2209800" cy="1409700"/>
          </a:xfrm>
          <a:prstGeom prst="roundRect">
            <a:avLst>
              <a:gd name="adj" fmla="val 5405"/>
            </a:avLst>
          </a:prstGeom>
          <a:solidFill>
            <a:srgbClr val="20182F"/>
          </a:solidFill>
          <a:ln w="9525">
            <a:solidFill>
              <a:srgbClr val="5140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A95A294-7324-43AF-BE56-AB79CB0E697B}"/>
              </a:ext>
            </a:extLst>
          </p:cNvPr>
          <p:cNvSpPr>
            <a:spLocks noGrp="1"/>
          </p:cNvSpPr>
          <p:nvPr/>
        </p:nvSpPr>
        <p:spPr>
          <a:xfrm>
            <a:off x="9410700" y="962025"/>
            <a:ext cx="1219200" cy="266700"/>
          </a:xfrm>
          <a:prstGeom prst="roundRect">
            <a:avLst>
              <a:gd name="adj" fmla="val 28571"/>
            </a:avLst>
          </a:prstGeom>
          <a:solidFill>
            <a:srgbClr val="302442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DA7286-1E3E-46EC-B0D4-C55F502ED184}"/>
              </a:ext>
            </a:extLst>
          </p:cNvPr>
          <p:cNvSpPr>
            <a:spLocks noGrp="1"/>
          </p:cNvSpPr>
          <p:nvPr/>
        </p:nvSpPr>
        <p:spPr>
          <a:xfrm>
            <a:off x="9525000" y="100965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Tech snapshot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AFAC50-334E-46BF-8AE4-66A29106887B}"/>
              </a:ext>
            </a:extLst>
          </p:cNvPr>
          <p:cNvSpPr>
            <a:spLocks noGrp="1"/>
          </p:cNvSpPr>
          <p:nvPr/>
        </p:nvSpPr>
        <p:spPr>
          <a:xfrm>
            <a:off x="9448800" y="1304925"/>
            <a:ext cx="1638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React + Redux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Node + Express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MongoDB + Mongoose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OpenAI Vision / GPT-4o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Sharp + Cloudinary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Socket.IO + JWT</a:t>
            </a:r>
          </a:p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Stripe + Khalti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1E54CDF-ED81-4EC3-9C52-0EE139F86787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MetArt Phase 1 Pitch Deck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7949DD5-2EB1-4522-97C5-E0B486A8CE7C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9479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D714F83D-E2C9-49E8-A28E-A999DEBE88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018"/>
              </a:gs>
              <a:gs pos="62000">
                <a:srgbClr val="171225"/>
              </a:gs>
              <a:gs pos="100000">
                <a:srgbClr val="21152C"/>
              </a:gs>
            </a:gsLst>
            <a:lin ang="1080000"/>
          </a:gra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68F781EC-4816-4476-A8CB-746DAD5E8B1E}"/>
              </a:ext>
            </a:extLst>
          </p:cNvPr>
          <p:cNvSpPr>
            <a:spLocks noGrp="1"/>
          </p:cNvSpPr>
          <p:nvPr/>
        </p:nvSpPr>
        <p:spPr>
          <a:xfrm>
            <a:off x="533400" y="381000"/>
            <a:ext cx="133350" cy="1333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FDECF06C-86C9-46FB-B675-78D956544CDE}"/>
              </a:ext>
            </a:extLst>
          </p:cNvPr>
          <p:cNvSpPr>
            <a:spLocks noGrp="1"/>
          </p:cNvSpPr>
          <p:nvPr/>
        </p:nvSpPr>
        <p:spPr>
          <a:xfrm>
            <a:off x="762000" y="3143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defRPr sz="97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ICP + TARGET AUDIENCE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B0CD8-6D03-4DB8-A8E9-CF5EED148D69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762000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07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ICP: indie creators and collectors who need trust without a middleman.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1B3DC-8DD4-43A6-A27B-4233EF1A3F50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62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MetArt's beachhead audience is independent digital artists who already share work online but need protection, better presentation, direct buyer access, and practical selling tools.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83FB2B-69EF-4F04-8657-5E5544AD07D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3467100" cy="2476500"/>
          </a:xfrm>
          <a:prstGeom prst="roundRect">
            <a:avLst>
              <a:gd name="adj" fmla="val 3077"/>
            </a:avLst>
          </a:prstGeom>
          <a:solidFill>
            <a:srgbClr val="1C1628"/>
          </a:solidFill>
          <a:ln w="11430">
            <a:solidFill>
              <a:srgbClr val="C4A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0FD05D-7AC8-443F-A676-81C04287DE61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302442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5C1061-06D5-406A-9AED-B23B8581A74A}"/>
              </a:ext>
            </a:extLst>
          </p:cNvPr>
          <p:cNvSpPr>
            <a:spLocks noGrp="1"/>
          </p:cNvSpPr>
          <p:nvPr/>
        </p:nvSpPr>
        <p:spPr>
          <a:xfrm>
            <a:off x="914400" y="3076575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Primary ICP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E1F85-716B-4837-B62D-2A13F4FC383A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Independent Artists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BB644-E224-4612-873D-8C9B65FFDC71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2781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Digital artists, painters, illustrators and photographers who need AI help to list work professionally, protect previews, run auctions and get paid directly.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3A192-4504-49DF-993D-99030341C93E}"/>
              </a:ext>
            </a:extLst>
          </p:cNvPr>
          <p:cNvSpPr>
            <a:spLocks noGrp="1"/>
          </p:cNvSpPr>
          <p:nvPr/>
        </p:nvSpPr>
        <p:spPr>
          <a:xfrm>
            <a:off x="800100" y="48768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F59B67"/>
                </a:solidFill>
                <a:latin typeface="Segoe UI"/>
                <a:ea typeface="Segoe UI"/>
                <a:cs typeface="Segoe UI"/>
              </a:defRPr>
            </a:pPr>
            <a:r>
              <a:t>Core need: control + monetization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21BC77-A7C6-48D2-86EC-FA104D7FF65A}"/>
              </a:ext>
            </a:extLst>
          </p:cNvPr>
          <p:cNvSpPr>
            <a:spLocks noGrp="1"/>
          </p:cNvSpPr>
          <p:nvPr/>
        </p:nvSpPr>
        <p:spPr>
          <a:xfrm>
            <a:off x="4362450" y="2800350"/>
            <a:ext cx="3467100" cy="2476500"/>
          </a:xfrm>
          <a:prstGeom prst="roundRect">
            <a:avLst>
              <a:gd name="adj" fmla="val 3077"/>
            </a:avLst>
          </a:prstGeom>
          <a:solidFill>
            <a:srgbClr val="172329"/>
          </a:solidFill>
          <a:ln w="11430">
            <a:solidFill>
              <a:srgbClr val="49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8F8B9A-90B5-4601-8941-846051025DD9}"/>
              </a:ext>
            </a:extLst>
          </p:cNvPr>
          <p:cNvSpPr>
            <a:spLocks noGrp="1"/>
          </p:cNvSpPr>
          <p:nvPr/>
        </p:nvSpPr>
        <p:spPr>
          <a:xfrm>
            <a:off x="4610100" y="3028950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25343D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4B531D-620D-46FB-AE7F-104626DDC279}"/>
              </a:ext>
            </a:extLst>
          </p:cNvPr>
          <p:cNvSpPr>
            <a:spLocks noGrp="1"/>
          </p:cNvSpPr>
          <p:nvPr/>
        </p:nvSpPr>
        <p:spPr>
          <a:xfrm>
            <a:off x="4724400" y="307657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Secondary ICP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A92D04-1E39-4666-9F2C-6A4557D36EE2}"/>
              </a:ext>
            </a:extLst>
          </p:cNvPr>
          <p:cNvSpPr>
            <a:spLocks noGrp="1"/>
          </p:cNvSpPr>
          <p:nvPr/>
        </p:nvSpPr>
        <p:spPr>
          <a:xfrm>
            <a:off x="4610100" y="3486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 i="0">
                <a:solidFill>
                  <a:srgbClr val="F8F4FF"/>
                </a:solidFill>
                <a:latin typeface="Georgia"/>
                <a:ea typeface="Georgia"/>
                <a:cs typeface="Georgia"/>
              </a:defRPr>
            </a:pPr>
            <a:r>
              <a:t>Digital Collectors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9C03A1-113B-43DF-BB77-007127BEF893}"/>
              </a:ext>
            </a:extLst>
          </p:cNvPr>
          <p:cNvSpPr>
            <a:spLocks noGrp="1"/>
          </p:cNvSpPr>
          <p:nvPr/>
        </p:nvSpPr>
        <p:spPr>
          <a:xfrm>
            <a:off x="4610100" y="3943350"/>
            <a:ext cx="27813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Collectors and buyers who want unique artwork, transparent creator interaction, real-time auctions and a smoother checkout journey.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5219A-8532-4EDA-BB05-0BC0E1F712F7}"/>
              </a:ext>
            </a:extLst>
          </p:cNvPr>
          <p:cNvSpPr>
            <a:spLocks noGrp="1"/>
          </p:cNvSpPr>
          <p:nvPr/>
        </p:nvSpPr>
        <p:spPr>
          <a:xfrm>
            <a:off x="4610100" y="48768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825" b="1" i="0">
                <a:solidFill>
                  <a:srgbClr val="F2C96D"/>
                </a:solidFill>
                <a:latin typeface="Segoe UI"/>
                <a:ea typeface="Segoe UI"/>
                <a:cs typeface="Segoe UI"/>
              </a:defRPr>
            </a:pPr>
            <a:r>
              <a:t>Core need: authenticity + access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0DAA9B-4627-4647-82D6-62755CD282C0}"/>
              </a:ext>
            </a:extLst>
          </p:cNvPr>
          <p:cNvSpPr>
            <a:spLocks noGrp="1"/>
          </p:cNvSpPr>
          <p:nvPr/>
        </p:nvSpPr>
        <p:spPr>
          <a:xfrm>
            <a:off x="8229600" y="819150"/>
            <a:ext cx="2895600" cy="1619250"/>
          </a:xfrm>
          <a:prstGeom prst="roundRect">
            <a:avLst>
              <a:gd name="adj" fmla="val 4706"/>
            </a:avLst>
          </a:prstGeom>
          <a:solidFill>
            <a:srgbClr val="1B1527"/>
          </a:solidFill>
          <a:ln w="9525">
            <a:solidFill>
              <a:srgbClr val="4B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20100" y="1252538"/>
            <a:ext cx="762000" cy="5048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53550" y="1250930"/>
            <a:ext cx="762000" cy="50803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87000" y="1322784"/>
            <a:ext cx="647700" cy="36433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41C9256-C929-4517-B448-50DAAD8BB965}"/>
              </a:ext>
            </a:extLst>
          </p:cNvPr>
          <p:cNvSpPr>
            <a:spLocks noGrp="1"/>
          </p:cNvSpPr>
          <p:nvPr/>
        </p:nvSpPr>
        <p:spPr>
          <a:xfrm>
            <a:off x="8477250" y="20764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Target categories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A9003F-647F-4EA3-9E78-32DDF5D02138}"/>
              </a:ext>
            </a:extLst>
          </p:cNvPr>
          <p:cNvSpPr>
            <a:spLocks noGrp="1"/>
          </p:cNvSpPr>
          <p:nvPr/>
        </p:nvSpPr>
        <p:spPr>
          <a:xfrm>
            <a:off x="8229600" y="2800350"/>
            <a:ext cx="2895600" cy="2667000"/>
          </a:xfrm>
          <a:prstGeom prst="roundRect">
            <a:avLst>
              <a:gd name="adj" fmla="val 2857"/>
            </a:avLst>
          </a:prstGeom>
          <a:solidFill>
            <a:srgbClr val="20182F"/>
          </a:solidFill>
          <a:ln w="9525">
            <a:solidFill>
              <a:srgbClr val="5140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09FFDD-D12F-4379-ACE9-FC1697B91688}"/>
              </a:ext>
            </a:extLst>
          </p:cNvPr>
          <p:cNvSpPr>
            <a:spLocks noGrp="1"/>
          </p:cNvSpPr>
          <p:nvPr/>
        </p:nvSpPr>
        <p:spPr>
          <a:xfrm>
            <a:off x="8477250" y="302895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302442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441C2-B534-4F85-882F-6845B3C6FC05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Go-to-market wedge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5496CC-BE08-4ED0-8AB2-E23B3EF72EAF}"/>
              </a:ext>
            </a:extLst>
          </p:cNvPr>
          <p:cNvSpPr>
            <a:spLocks noGrp="1"/>
          </p:cNvSpPr>
          <p:nvPr/>
        </p:nvSpPr>
        <p:spPr>
          <a:xfrm>
            <a:off x="8477250" y="3543300"/>
            <a:ext cx="285750" cy="285750"/>
          </a:xfrm>
          <a:prstGeom prst="ellipse">
            <a:avLst/>
          </a:prstGeom>
          <a:solidFill>
            <a:srgbClr val="C4A7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357C8A-39DB-454F-BD47-1D23698C4F77}"/>
              </a:ext>
            </a:extLst>
          </p:cNvPr>
          <p:cNvSpPr>
            <a:spLocks noGrp="1"/>
          </p:cNvSpPr>
          <p:nvPr/>
        </p:nvSpPr>
        <p:spPr>
          <a:xfrm>
            <a:off x="8477250" y="35909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A78446-FBE1-4BE6-89D2-09C75FE33B94}"/>
              </a:ext>
            </a:extLst>
          </p:cNvPr>
          <p:cNvSpPr>
            <a:spLocks noGrp="1"/>
          </p:cNvSpPr>
          <p:nvPr/>
        </p:nvSpPr>
        <p:spPr>
          <a:xfrm>
            <a:off x="8896350" y="35052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Start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C55FB4-39F2-450F-847E-D20B9B629178}"/>
              </a:ext>
            </a:extLst>
          </p:cNvPr>
          <p:cNvSpPr>
            <a:spLocks noGrp="1"/>
          </p:cNvSpPr>
          <p:nvPr/>
        </p:nvSpPr>
        <p:spPr>
          <a:xfrm>
            <a:off x="8896350" y="3714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Artists who post on social platforms but lack a selling workflow.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D991552-01A1-478C-9C48-B28936385A77}"/>
              </a:ext>
            </a:extLst>
          </p:cNvPr>
          <p:cNvSpPr>
            <a:spLocks noGrp="1"/>
          </p:cNvSpPr>
          <p:nvPr/>
        </p:nvSpPr>
        <p:spPr>
          <a:xfrm>
            <a:off x="8477250" y="4133850"/>
            <a:ext cx="285750" cy="285750"/>
          </a:xfrm>
          <a:prstGeom prst="ellipse">
            <a:avLst/>
          </a:prstGeom>
          <a:solidFill>
            <a:srgbClr val="F59B67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554237-A0D5-4E1E-AD80-CFB21104AC1D}"/>
              </a:ext>
            </a:extLst>
          </p:cNvPr>
          <p:cNvSpPr>
            <a:spLocks noGrp="1"/>
          </p:cNvSpPr>
          <p:nvPr/>
        </p:nvSpPr>
        <p:spPr>
          <a:xfrm>
            <a:off x="8477250" y="41814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A5D0A49-7722-4EF4-8B6C-BCADA41E2242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Convert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DD9770-2F23-4761-835A-4F2A9881FA0A}"/>
              </a:ext>
            </a:extLst>
          </p:cNvPr>
          <p:cNvSpPr>
            <a:spLocks noGrp="1"/>
          </p:cNvSpPr>
          <p:nvPr/>
        </p:nvSpPr>
        <p:spPr>
          <a:xfrm>
            <a:off x="8896350" y="43053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Use AI upload + watermarking as the reason to publish on MetArt.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68DA1DF-33AC-4DC8-B04B-B8AB00DDCD90}"/>
              </a:ext>
            </a:extLst>
          </p:cNvPr>
          <p:cNvSpPr>
            <a:spLocks noGrp="1"/>
          </p:cNvSpPr>
          <p:nvPr/>
        </p:nvSpPr>
        <p:spPr>
          <a:xfrm>
            <a:off x="8477250" y="4724400"/>
            <a:ext cx="285750" cy="285750"/>
          </a:xfrm>
          <a:prstGeom prst="ellipse">
            <a:avLst/>
          </a:prstGeom>
          <a:solidFill>
            <a:srgbClr val="49D6C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640BD9-DCC4-494E-844C-B986CB188856}"/>
              </a:ext>
            </a:extLst>
          </p:cNvPr>
          <p:cNvSpPr>
            <a:spLocks noGrp="1"/>
          </p:cNvSpPr>
          <p:nvPr/>
        </p:nvSpPr>
        <p:spPr>
          <a:xfrm>
            <a:off x="8477250" y="47720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00" b="1" i="0">
                <a:solidFill>
                  <a:srgbClr val="101018"/>
                </a:solidFill>
                <a:latin typeface="Segoe UI"/>
                <a:ea typeface="Segoe UI"/>
                <a:cs typeface="Segoe UI"/>
              </a:defRPr>
            </a:pPr>
            <a: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ECD301-9A98-45F0-B398-6D32A57A5993}"/>
              </a:ext>
            </a:extLst>
          </p:cNvPr>
          <p:cNvSpPr>
            <a:spLocks noGrp="1"/>
          </p:cNvSpPr>
          <p:nvPr/>
        </p:nvSpPr>
        <p:spPr>
          <a:xfrm>
            <a:off x="8896350" y="46863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Expand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569F409-CC19-44DD-A917-3F53CD16A0C5}"/>
              </a:ext>
            </a:extLst>
          </p:cNvPr>
          <p:cNvSpPr>
            <a:spLocks noGrp="1"/>
          </p:cNvSpPr>
          <p:nvPr/>
        </p:nvSpPr>
        <p:spPr>
          <a:xfrm>
            <a:off x="8896350" y="48958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863" b="0" i="0">
                <a:solidFill>
                  <a:srgbClr val="D9CEE9"/>
                </a:solidFill>
                <a:latin typeface="Segoe UI"/>
                <a:ea typeface="Segoe UI"/>
                <a:cs typeface="Segoe UI"/>
              </a:defRPr>
            </a:pPr>
            <a:r>
              <a:t>Add live auctions, DMs and checkout to turn followers into collectors.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85A6BD-74D9-4F19-9671-E4E86E656EF0}"/>
              </a:ext>
            </a:extLst>
          </p:cNvPr>
          <p:cNvSpPr>
            <a:spLocks noGrp="1"/>
          </p:cNvSpPr>
          <p:nvPr/>
        </p:nvSpPr>
        <p:spPr>
          <a:xfrm>
            <a:off x="819150" y="5753100"/>
            <a:ext cx="828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 i="0">
                <a:solidFill>
                  <a:srgbClr val="F8F4FF"/>
                </a:solidFill>
                <a:latin typeface="Segoe UI"/>
                <a:ea typeface="Segoe UI"/>
                <a:cs typeface="Segoe UI"/>
              </a:defRPr>
            </a:pPr>
            <a:r>
              <a:t>Phase 1 outcome: MVP story is pitch-ready once the deck is paired with a working demo of upload, protection, auction, chat and checkout.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086AD4F-9CFB-4F67-B26F-13257A025E7A}"/>
              </a:ext>
            </a:extLst>
          </p:cNvPr>
          <p:cNvSpPr>
            <a:spLocks noGrp="1"/>
          </p:cNvSpPr>
          <p:nvPr/>
        </p:nvSpPr>
        <p:spPr>
          <a:xfrm>
            <a:off x="9296400" y="5753100"/>
            <a:ext cx="2152650" cy="323850"/>
          </a:xfrm>
          <a:prstGeom prst="roundRect">
            <a:avLst>
              <a:gd name="adj" fmla="val 23529"/>
            </a:avLst>
          </a:prstGeom>
          <a:solidFill>
            <a:srgbClr val="302442"/>
          </a:solidFill>
          <a:ln w="9525">
            <a:solidFill>
              <a:srgbClr val="4E40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C19579-447C-40E1-A531-97BDCDC01E2A}"/>
              </a:ext>
            </a:extLst>
          </p:cNvPr>
          <p:cNvSpPr>
            <a:spLocks noGrp="1"/>
          </p:cNvSpPr>
          <p:nvPr/>
        </p:nvSpPr>
        <p:spPr>
          <a:xfrm>
            <a:off x="9410700" y="5800725"/>
            <a:ext cx="1924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defRPr sz="975" b="1" i="0">
                <a:solidFill>
                  <a:srgbClr val="C4A7FF"/>
                </a:solidFill>
                <a:latin typeface="Segoe UI"/>
                <a:ea typeface="Segoe UI"/>
                <a:cs typeface="Segoe UI"/>
              </a:defRPr>
            </a:pPr>
            <a:r>
              <a:t>MetArt = protect + sell + auction + chat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0CC734-A835-4F48-B21E-EFDBF34871FF}"/>
              </a:ext>
            </a:extLst>
          </p:cNvPr>
          <p:cNvSpPr>
            <a:spLocks noGrp="1"/>
          </p:cNvSpPr>
          <p:nvPr/>
        </p:nvSpPr>
        <p:spPr>
          <a:xfrm>
            <a:off x="533400" y="64198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MetArt Phase 1 Pitch Deck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4A9D358-B5FE-4482-82A3-BBE5DBD13146}"/>
              </a:ext>
            </a:extLst>
          </p:cNvPr>
          <p:cNvSpPr>
            <a:spLocks noGrp="1"/>
          </p:cNvSpPr>
          <p:nvPr/>
        </p:nvSpPr>
        <p:spPr>
          <a:xfrm>
            <a:off x="10763250" y="6419850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750" b="0" i="0">
                <a:solidFill>
                  <a:srgbClr val="A99ABF"/>
                </a:solidFill>
                <a:latin typeface="Segoe UI"/>
                <a:ea typeface="Segoe UI"/>
                <a:cs typeface="Segoe UI"/>
              </a:defRPr>
            </a:pPr>
            <a: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16025180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834</Words>
  <Application>Microsoft Office PowerPoint</Application>
  <DocSecurity>0</DocSecurity>
  <PresentationFormat>Widescreen</PresentationFormat>
  <Paragraphs>119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Suyasha Gourh</cp:lastModifiedBy>
  <cp:revision>1</cp:revision>
  <dcterms:created xsi:type="dcterms:W3CDTF">2026-05-28T12:07:26Z</dcterms:created>
  <dcterms:modified xsi:type="dcterms:W3CDTF">2026-05-28T12:24:41Z</dcterms:modified>
</cp:coreProperties>
</file>